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12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2980B9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286000" y="4114800"/>
            <a:ext cx="3657600" cy="365760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🏋️ Body Performance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Intelligent Classification System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48640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AI and Machine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520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13,393 Records × 12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(A/B/C/D) + Regression (broad_jump_cm)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2024 –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&amp; Project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5577840" cy="5394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Team Assignment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54864" cy="6858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Eid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810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+ Linear Regression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423160"/>
            <a:ext cx="54864" cy="685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Moamen Essmat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2724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+ RF (Presenter)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37560"/>
            <a:ext cx="54864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337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Khaled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6393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(MLP)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4251960"/>
            <a:ext cx="54864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251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Mahmoud Maher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45537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 + Linear)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5166360"/>
            <a:ext cx="54864" cy="6858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5166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El-Koumi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54681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(DT)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1005840"/>
            <a:ext cx="6217920" cy="5394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1051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Project Structure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35040" y="1508760"/>
            <a:ext cx="5943600" cy="13716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554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Data Preparation &amp; EDA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90195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quality checks, cleaning, statistics, distributions, correlation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5943600" cy="13716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Feature Engineering &amp; Training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345643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new features, 3-method selection, hyperparameter tuning, all model training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35040" y="4617720"/>
            <a:ext cx="5943600" cy="13716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663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Evaluation &amp; Comparison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501091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Accuracy/F1/R², confusion matrices, cross-validation, model ranking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ABC9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Equal Division Among 5 Members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9786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 Section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Topics Covered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Eid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 — Dataset Loading &amp; Overview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CSV, clean columns, rename features, shape, sample 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Moamen Essmat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— Data Quality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values, duplicates, type verification, validity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Khaled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 &amp; 1.4 — Cleaning &amp; Distributions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dataset, descriptive stats, histogram distributions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Mahmoud Maher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&amp; 1.6 — Categorical &amp; Outliers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charts, IQR boxplots, outlier decision 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Youssef El-Koumi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&amp; 1.8 — Correlation &amp;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Pearson heatmap, scatter plots, 5 key EDA insights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Dataset Loading &amp;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Mohamed Eid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51560"/>
            <a:ext cx="2103120" cy="1280160"/>
          </a:xfrm>
          <a:prstGeom prst="rect">
            <a:avLst/>
          </a:prstGeom>
          <a:solidFill>
            <a:srgbClr val="1E3A5F"/>
          </a:solidFill>
          <a:ln/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14300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13,393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" y="1755648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2103120" cy="1280160"/>
          </a:xfrm>
          <a:prstGeom prst="rect">
            <a:avLst/>
          </a:prstGeom>
          <a:solidFill>
            <a:srgbClr val="1E3A5F"/>
          </a:solidFill>
          <a:ln/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14300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1755648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051560"/>
            <a:ext cx="2103120" cy="1280160"/>
          </a:xfrm>
          <a:prstGeom prst="rect">
            <a:avLst/>
          </a:prstGeom>
          <a:solidFill>
            <a:srgbClr val="1E3A5F"/>
          </a:solidFill>
          <a:ln/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14300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83480" y="1755648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051560"/>
            <a:ext cx="2103120" cy="1280160"/>
          </a:xfrm>
          <a:prstGeom prst="rect">
            <a:avLst/>
          </a:prstGeom>
          <a:solidFill>
            <a:srgbClr val="1E3A5F"/>
          </a:solidFill>
          <a:ln/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114300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60920" y="1755648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0" y="1051560"/>
            <a:ext cx="2103120" cy="1280160"/>
          </a:xfrm>
          <a:prstGeom prst="rect">
            <a:avLst/>
          </a:prstGeom>
          <a:solidFill>
            <a:srgbClr val="1E3A5F"/>
          </a:solidFill>
          <a:ln/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38360" y="1143000"/>
            <a:ext cx="2011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738360" y="1755648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" y="2514600"/>
            <a:ext cx="1188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Overview: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834640"/>
          <a:ext cx="119786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in years (20–64)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= Male, F = Female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height_cm / weight_kg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measurements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body_fat_pct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fat percentage (0–100%)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diastolic / systolic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pressure measurements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gripForce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Grip strength — bimodal (gender-driven)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situps_counts / broad_jump_cm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Athletic performance metrics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A (Best) / B / C / D (Lowest)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Data Quality Checks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Moamen Essmat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51560"/>
            <a:ext cx="5852160" cy="2651760"/>
          </a:xfrm>
          <a:prstGeom prst="rect">
            <a:avLst/>
          </a:prstGeom>
          <a:solidFill>
            <a:srgbClr val="D5F5E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188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Missing Values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missing values across all 12 columns.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is complete — no imputation required.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051560"/>
            <a:ext cx="5852160" cy="2651760"/>
          </a:xfrm>
          <a:prstGeom prst="rect">
            <a:avLst/>
          </a:prstGeom>
          <a:solidFill>
            <a:srgbClr val="D5F5E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188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Duplicates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164592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 detected and removed.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reset after removal to preserve integrity.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3886200"/>
            <a:ext cx="5852160" cy="2651760"/>
          </a:xfrm>
          <a:prstGeom prst="rect">
            <a:avLst/>
          </a:prstGeom>
          <a:solidFill>
            <a:srgbClr val="D5F5E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Data Types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0040" y="448056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columns confirmed correct types: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float64, int64, object — no casting errors.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5852160" cy="2651760"/>
          </a:xfrm>
          <a:prstGeom prst="rect">
            <a:avLst/>
          </a:prstGeom>
          <a:solidFill>
            <a:srgbClr val="D5F5E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Validity Checks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46520" y="448056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(20–64), Height (realistic range),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negative gripForce, systolic &gt; diastolic always.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&amp; 1.4 Cleaning + Descriptive Statistics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Mohamed Khaled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from descriptive statistics: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71600"/>
          <a:ext cx="1197864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 Dev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Skewness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 Notes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36.8 yrs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Roughly uniform across 21–64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height_cm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168.5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Approximately normal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Slightly right-skewed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body_fat_pct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Right-skewed; few high-fat outliers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gripForce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Bimodal — gender-driven 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situps_counts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Left-skewed; concentrated at high counts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broad_jump_cm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149.9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Approximately normal; regression 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2880" y="5669280"/>
            <a:ext cx="11978640" cy="73152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571500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gripForce &amp; broad_jump_cm have the highest variability — key performance differentiators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&amp; 1.6 Categorical Features &amp; Outlier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Mahmoud Maher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Distribution: Perfectly Balanced (~25% each) → No class imbalance correction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743200" cy="640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743200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26880" y="1463040"/>
            <a:ext cx="2743200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" y="2240280"/>
            <a:ext cx="1188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IQR-Based Outlier Decision Table: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606040"/>
          <a:ext cx="119786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body_fat_pct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 at 95th %ile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Values &gt;50% are likely measurement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height_cm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~30–45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Extreme values represent real participants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weight variation; no negatives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gripForce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Bimodal distribution is gender-driven, not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situps_counts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performers naturally have extreme counts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sit_bend_cm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values are valid (poor flexibility)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 &amp; 1.8 Correlation Analysis &amp; EDA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Youssef El-Koumi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Correlations with Performance Class: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situps_counts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1508760"/>
            <a:ext cx="226314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53721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+0.55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broad_jump_cm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2057400"/>
            <a:ext cx="2139696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248656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+0.52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body_fat_pct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2606040"/>
            <a:ext cx="185166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496062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-0.45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gripForce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3154680"/>
            <a:ext cx="1645920" cy="2743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+0.4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17520" y="3703320"/>
            <a:ext cx="144018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4914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-0.35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fitness_score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017520" y="4251960"/>
            <a:ext cx="2674620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57835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+0.65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005840"/>
            <a:ext cx="4846320" cy="539496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5 Key EDA Insights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52360" y="1508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Situps &amp; Jump are the STRONGEST predictors (r &gt; 0.5)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2423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Body fat is NEGATIVELY correlated with performance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52360" y="3337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GripForce is BIMODAL — driven by gender differences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4251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Classes are PERFECTLY BALANCED — no resampling needed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52360" y="5166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Younger participants tend to cluster in Class A/B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39C12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Selection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— 7 New Features Created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9786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 / Method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/ (height/100)²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composition 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pulse_pressure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systolic − diastolic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Cardiovascular health indicator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fitness_score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of 4 normalized performance 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Composite athletic ability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age_group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Binned: Young/Middle/Senior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non-linear age effects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grip_to_weight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gripForce / weight_kg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strength adjusted for 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jump_per_kg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broad_jump_cm / weight_kg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Power-to-weight ratio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bp_ratio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systolic / diastolic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pressure cardiovascular risk ratio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82880" y="5669280"/>
            <a:ext cx="11978640" cy="73152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571500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Selection: 3-Method Ensemble (RF Importance + Mutual Info + RFE) — keep if ≥2/3 methods agree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980B9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 &amp; Hyperparameter Tuning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&amp; Linear Regression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Mohamed Eid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852160" cy="2926080"/>
          </a:xfrm>
          <a:prstGeom prst="rect">
            <a:avLst/>
          </a:prstGeom>
          <a:solidFill>
            <a:srgbClr val="D6E4F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789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 (KNN) — Classification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389888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Lazy learner: no training, computes at prediction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 tuned from 1 to 20 → optimal k selected by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RobustScaler essential (KNN is distance-based)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Strengths: Simple, no distribution assumptions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Weakness: Slow prediction on large datasets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4023360"/>
            <a:ext cx="5852160" cy="2377440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40965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— Regression (broad_jump_cm)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407408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ŷ = β₀ + β₁x₁ + ... + βₙxₙ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Ridge (L2): penalizes large coefficients → avoids overfitting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Metrics: R², RMSE, MAE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5943600" cy="539496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51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Tuning Curve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vs k (1–20):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566160"/>
            <a:ext cx="411480" cy="178308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22592" y="3429000"/>
            <a:ext cx="411480" cy="192024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31152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52944" y="3406140"/>
            <a:ext cx="411480" cy="194310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461504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83296" y="3360420"/>
            <a:ext cx="411480" cy="198882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991856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613648" y="3337560"/>
            <a:ext cx="411480" cy="20116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44000" y="3383280"/>
            <a:ext cx="411480" cy="196596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74352" y="3406140"/>
            <a:ext cx="411480" cy="194310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582912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204704" y="3360420"/>
            <a:ext cx="411480" cy="198882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113264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735056" y="3383280"/>
            <a:ext cx="411480" cy="196596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643616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265408" y="3406140"/>
            <a:ext cx="411480" cy="1943100"/>
          </a:xfrm>
          <a:prstGeom prst="rect">
            <a:avLst/>
          </a:prstGeom>
          <a:solidFill>
            <a:srgbClr val="2980B9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1173968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92240" y="5394960"/>
            <a:ext cx="5303520" cy="2743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5760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Best k highlighted in teal — optimal balance of variance/bias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&amp; Random Forest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Moamen Essmat (Presenter)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852160" cy="3108960"/>
          </a:xfrm>
          <a:prstGeom prst="rect">
            <a:avLst/>
          </a:prstGeom>
          <a:solidFill>
            <a:srgbClr val="D6E4F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789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— Classification &amp;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389888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Sequential ensemble: each tree corrects previous errors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Fits residuals at each step (gradient descent in function space)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HistGradientBoosting: faster, memory-efficient variant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Hyperparams: n_estimators, learning_rate, max_depth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Typically achieves HIGHEST accuracy among all models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Weakness: Slower training, many hyperparameters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4206240"/>
            <a:ext cx="5852160" cy="2194560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4279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— Classification &amp; Regression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590288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Bagging: trains many trees on random data/feature subsets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Aggregates: majority vote (clf) / mean (regression)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 controls number of trees (more = more robust)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feature importance via mean impurity decrease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5943600" cy="539496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51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— How It Works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1572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initial model (F₀)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mean of target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47688" y="2048256"/>
            <a:ext cx="0" cy="420624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46888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2487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residuals (errors)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2724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rᵢ = yᵢ − F₀(xᵢ)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7688" y="2962656"/>
            <a:ext cx="0" cy="420624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3401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new tree on residuals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3639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corrects previous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47688" y="3877056"/>
            <a:ext cx="0" cy="420624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29768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5160" y="43159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Fₘ = Fₘ₋₁ + η·tree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45537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= learning 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47688" y="4791456"/>
            <a:ext cx="0" cy="420624"/>
          </a:xfrm>
          <a:prstGeom prst="line">
            <a:avLst/>
          </a:prstGeom>
          <a:noFill/>
          <a:ln w="19050">
            <a:solidFill>
              <a:srgbClr val="2980B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521208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5160" y="5230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M times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95160" y="5468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= ensemble of all trees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(MLP) — 2 Hidden Layers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Mohamed Khaled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Input → Dense(128, ReLU) → Dense(64, ReLU) → Output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457200" cy="457200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377440"/>
            <a:ext cx="457200" cy="457200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108960"/>
            <a:ext cx="457200" cy="457200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3840480"/>
            <a:ext cx="457200" cy="457200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6459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2377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310896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384048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457200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neurons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645920"/>
            <a:ext cx="457200" cy="45720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2377440"/>
            <a:ext cx="457200" cy="45720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3108960"/>
            <a:ext cx="457200" cy="45720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0" y="3840480"/>
            <a:ext cx="457200" cy="45720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0" y="4572000"/>
            <a:ext cx="457200" cy="45720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neurons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69680" y="164592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Shape 25"/>
          <p:cNvSpPr/>
          <p:nvPr/>
        </p:nvSpPr>
        <p:spPr>
          <a:xfrm>
            <a:off x="8869680" y="23774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8" name="Shape 26"/>
          <p:cNvSpPr/>
          <p:nvPr/>
        </p:nvSpPr>
        <p:spPr>
          <a:xfrm>
            <a:off x="8869680" y="310896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9680" y="384048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8732520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Classes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" y="2240280"/>
            <a:ext cx="28346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2240280"/>
            <a:ext cx="28346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2240280"/>
            <a:ext cx="283464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1371600"/>
            <a:ext cx="2560320" cy="5029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5" name="Text 33"/>
          <p:cNvSpPr/>
          <p:nvPr/>
        </p:nvSpPr>
        <p:spPr>
          <a:xfrm>
            <a:off x="964692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Specifications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4692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Activation: ReLU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4692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Optimizer: Adam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4692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Regularization: L2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4692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Stopping: Yes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46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Scaling: RobustScaler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46920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Classification: Softmax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4692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Regression: Linear output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46920" y="5669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Hidden Layers (required)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SVM?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Mahmoud Maher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1197864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" y="1143000"/>
            <a:ext cx="11978640" cy="1371600"/>
          </a:xfrm>
          <a:prstGeom prst="rect">
            <a:avLst/>
          </a:prstGeom>
          <a:solidFill>
            <a:srgbClr val="FFF8F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216152"/>
            <a:ext cx="1179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1527048"/>
            <a:ext cx="1179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 (SVM) is a supervised machine learning algorithm used for both classification and regression tasks.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2651760"/>
            <a:ext cx="11978640" cy="1371600"/>
          </a:xfrm>
          <a:prstGeom prst="rect">
            <a:avLst/>
          </a:prstGeom>
          <a:solidFill>
            <a:srgbClr val="FFF8F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724912"/>
            <a:ext cx="1179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035808"/>
            <a:ext cx="1179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classifies data by trying to find the best boundary — known as a hyperplane — that separates different classes in the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4160520"/>
            <a:ext cx="3749040" cy="219456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4160520"/>
            <a:ext cx="374904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178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4645152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boundary separating different classes in feature space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78808" y="4160520"/>
            <a:ext cx="3749040" cy="2194560"/>
          </a:xfrm>
          <a:prstGeom prst="rect">
            <a:avLst/>
          </a:prstGeom>
          <a:solidFill>
            <a:srgbClr val="EAF9E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78808" y="4160520"/>
            <a:ext cx="374904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270248" y="4178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70248" y="4645152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closest data points (of each group) to the hyperplane, crucial for determining the hyperplane and margin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74736" y="4160520"/>
            <a:ext cx="3749040" cy="2194560"/>
          </a:xfrm>
          <a:prstGeom prst="rect">
            <a:avLst/>
          </a:prstGeom>
          <a:solidFill>
            <a:srgbClr val="FEF9E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74736" y="4160520"/>
            <a:ext cx="374904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8266176" y="4178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66176" y="4645152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 between the hyperplane and the support vectors. SVM aims to MAXIMIZE this margin for better classification.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— Linear vs Non-Linear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Mahmoud Maher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Support Vector Machine Algorithm Work?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" y="1554480"/>
            <a:ext cx="5669280" cy="484632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600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6035040"/>
            <a:ext cx="475488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03120"/>
            <a:ext cx="0" cy="393192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5989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577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5120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5486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754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0" y="2834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17520" y="2468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2743200"/>
            <a:ext cx="4114800" cy="301752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1554480"/>
            <a:ext cx="5669280" cy="48463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600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Linearly Separable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75120" y="6035040"/>
            <a:ext cx="484632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2103120"/>
            <a:ext cx="0" cy="393192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0" y="5989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9340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0" y="2468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0" y="2834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60120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04672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03920" y="3749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326880" y="3383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05840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515600" y="2560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98080" y="4114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61120" y="3931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241280" y="3657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875520" y="4389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412480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86968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41832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686800" y="3657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144000" y="4114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784080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32104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760720" y="3977640"/>
            <a:ext cx="4572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3794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Kernel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9496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— Support Vectors &amp; Maximum Margin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Mahmoud Maher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Support Vector Machine Algorithm Work?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" y="1508760"/>
            <a:ext cx="6858000" cy="4983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1508760"/>
            <a:ext cx="3840480" cy="4983480"/>
          </a:xfrm>
          <a:prstGeom prst="rect">
            <a:avLst/>
          </a:prstGeom>
          <a:solidFill>
            <a:srgbClr val="FDECEA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" y="1508760"/>
            <a:ext cx="3017520" cy="4983480"/>
          </a:xfrm>
          <a:prstGeom prst="rect">
            <a:avLst/>
          </a:prstGeom>
          <a:solidFill>
            <a:srgbClr val="EAF0FB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508760"/>
            <a:ext cx="1463040" cy="4983480"/>
          </a:xfrm>
          <a:prstGeom prst="rect">
            <a:avLst/>
          </a:prstGeom>
          <a:solidFill>
            <a:srgbClr val="EAFAF1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554480"/>
            <a:ext cx="0" cy="4846320"/>
          </a:xfrm>
          <a:prstGeom prst="line">
            <a:avLst/>
          </a:prstGeom>
          <a:noFill/>
          <a:ln w="31750">
            <a:solidFill>
              <a:srgbClr val="1C28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554480"/>
            <a:ext cx="0" cy="4846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931920" y="1554480"/>
            <a:ext cx="0" cy="484632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33756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Boundary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01168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0" y="256032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0" y="27432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32004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347472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41148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45720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512064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7432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347472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8720" y="384048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5720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50292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566928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32" name="Shape 30"/>
          <p:cNvSpPr/>
          <p:nvPr/>
        </p:nvSpPr>
        <p:spPr>
          <a:xfrm>
            <a:off x="1645920" y="576072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943600"/>
            <a:ext cx="164592" cy="164592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0" y="342900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443484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7480" y="306324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7480" y="416052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06240" y="3977640"/>
            <a:ext cx="109728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1508760"/>
            <a:ext cx="4846320" cy="498348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41" name="Text 39"/>
          <p:cNvSpPr/>
          <p:nvPr/>
        </p:nvSpPr>
        <p:spPr>
          <a:xfrm>
            <a:off x="74523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Concepts: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406640" y="2103120"/>
            <a:ext cx="4572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0" y="2121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Hyperplane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98080" y="2377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solid center line — the optimal decision boundary separating the two classes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06640" y="2953512"/>
            <a:ext cx="4572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98080" y="32278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green band between dashed lines. SVM maximizes this for best generalization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06640" y="3803904"/>
            <a:ext cx="4572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0" y="3822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498080" y="40782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circled points — the critical training samples that define and touch the margin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06640" y="4654296"/>
            <a:ext cx="4572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0" y="46725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Margin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8080" y="4928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separation with NO misclassifications allowed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06640" y="5504688"/>
            <a:ext cx="4572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0" y="5522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Margin (C)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498080" y="57790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some misclassifications inside the margin. Controlled by C parameter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— Hard Margin vs Soft Margin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Mahmoud Maher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Support Vector Machine Algorithm Work?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" y="1508760"/>
            <a:ext cx="5760720" cy="4983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554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Margin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84048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47472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420624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75488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502920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530352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292608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21031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25603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228600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0" y="274320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30175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329184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0" y="25603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Shape 24"/>
          <p:cNvSpPr/>
          <p:nvPr/>
        </p:nvSpPr>
        <p:spPr>
          <a:xfrm>
            <a:off x="3017520" y="182880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Shape 25"/>
          <p:cNvSpPr/>
          <p:nvPr/>
        </p:nvSpPr>
        <p:spPr>
          <a:xfrm>
            <a:off x="1920240" y="1828800"/>
            <a:ext cx="731520" cy="4572000"/>
          </a:xfrm>
          <a:prstGeom prst="line">
            <a:avLst/>
          </a:prstGeom>
          <a:noFill/>
          <a:ln w="31750">
            <a:solidFill>
              <a:srgbClr val="1C28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1828800"/>
            <a:ext cx="731520" cy="457200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468880" y="1828800"/>
            <a:ext cx="731520" cy="457200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463040" y="2286000"/>
            <a:ext cx="146304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5760720"/>
            <a:ext cx="5577840" cy="59436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57790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Perfect separation — NO points inside margin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data is clearly separable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1508760"/>
            <a:ext cx="5760720" cy="498348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554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Margin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83680" y="320040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7" name="Shape 35"/>
          <p:cNvSpPr/>
          <p:nvPr/>
        </p:nvSpPr>
        <p:spPr>
          <a:xfrm>
            <a:off x="6766560" y="384048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0880" y="347472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0" y="420624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0" name="Shape 38"/>
          <p:cNvSpPr/>
          <p:nvPr/>
        </p:nvSpPr>
        <p:spPr>
          <a:xfrm>
            <a:off x="6675120" y="475488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1" name="Shape 39"/>
          <p:cNvSpPr/>
          <p:nvPr/>
        </p:nvSpPr>
        <p:spPr>
          <a:xfrm>
            <a:off x="7223760" y="502920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530352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3" name="Shape 41"/>
          <p:cNvSpPr/>
          <p:nvPr/>
        </p:nvSpPr>
        <p:spPr>
          <a:xfrm>
            <a:off x="7498080" y="2926080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4" name="Shape 42"/>
          <p:cNvSpPr/>
          <p:nvPr/>
        </p:nvSpPr>
        <p:spPr>
          <a:xfrm>
            <a:off x="9326880" y="21031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5" name="Shape 43"/>
          <p:cNvSpPr/>
          <p:nvPr/>
        </p:nvSpPr>
        <p:spPr>
          <a:xfrm>
            <a:off x="9601200" y="25603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6" name="Shape 44"/>
          <p:cNvSpPr/>
          <p:nvPr/>
        </p:nvSpPr>
        <p:spPr>
          <a:xfrm>
            <a:off x="9966960" y="228600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7" name="Shape 45"/>
          <p:cNvSpPr/>
          <p:nvPr/>
        </p:nvSpPr>
        <p:spPr>
          <a:xfrm>
            <a:off x="10241280" y="274320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8" name="Shape 46"/>
          <p:cNvSpPr/>
          <p:nvPr/>
        </p:nvSpPr>
        <p:spPr>
          <a:xfrm>
            <a:off x="9418320" y="30175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9" name="Shape 47"/>
          <p:cNvSpPr/>
          <p:nvPr/>
        </p:nvSpPr>
        <p:spPr>
          <a:xfrm>
            <a:off x="9784080" y="329184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0" name="Shape 48"/>
          <p:cNvSpPr/>
          <p:nvPr/>
        </p:nvSpPr>
        <p:spPr>
          <a:xfrm>
            <a:off x="10515600" y="256032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0" y="1828800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2" name="Shape 50"/>
          <p:cNvSpPr/>
          <p:nvPr/>
        </p:nvSpPr>
        <p:spPr>
          <a:xfrm>
            <a:off x="8229600" y="2926080"/>
            <a:ext cx="237744" cy="237744"/>
          </a:xfrm>
          <a:prstGeom prst="ellipse">
            <a:avLst/>
          </a:prstGeom>
          <a:solidFill>
            <a:srgbClr val="27AE6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12480" y="2651760"/>
            <a:ext cx="237744" cy="237744"/>
          </a:xfrm>
          <a:prstGeom prst="ellipse">
            <a:avLst/>
          </a:prstGeom>
          <a:solidFill>
            <a:srgbClr val="27AE6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1828800"/>
            <a:ext cx="731520" cy="4572000"/>
          </a:xfrm>
          <a:prstGeom prst="line">
            <a:avLst/>
          </a:prstGeom>
          <a:noFill/>
          <a:ln w="31750">
            <a:solidFill>
              <a:srgbClr val="1C28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98080" y="1828800"/>
            <a:ext cx="731520" cy="457200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8595360" y="1828800"/>
            <a:ext cx="731520" cy="457200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589520" y="2286000"/>
            <a:ext cx="146304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55080" y="5760720"/>
            <a:ext cx="5577840" cy="59436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60" name="Text 58"/>
          <p:cNvSpPr/>
          <p:nvPr/>
        </p:nvSpPr>
        <p:spPr>
          <a:xfrm>
            <a:off x="6446520" y="57790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Allows violations (orange border) — wider margin, more robust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by parameter C (low C = more tolerance)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— The Kernel Trick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Mahmoud Maher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Support Vector Machine Algorithm Work?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" y="1508760"/>
            <a:ext cx="4389120" cy="4983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Feature Space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Linearly Separable)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3200400"/>
            <a:ext cx="731520" cy="731520"/>
          </a:xfrm>
          <a:prstGeom prst="ellipse">
            <a:avLst/>
          </a:prstGeom>
          <a:solidFill>
            <a:srgbClr val="27AE60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329184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347472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365760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338328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3108960"/>
            <a:ext cx="182880" cy="1828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56032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228600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0" y="237744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274320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0" y="347472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411480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457200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475488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11480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474720"/>
            <a:ext cx="182880" cy="1828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3291840"/>
            <a:ext cx="2834640" cy="12801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4572000" y="3931920"/>
            <a:ext cx="2926080" cy="0"/>
          </a:xfrm>
          <a:prstGeom prst="line">
            <a:avLst/>
          </a:prstGeom>
          <a:noFill/>
          <a:ln w="317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772400" y="1508760"/>
            <a:ext cx="4389120" cy="4983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Higher-Dimensional Space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(Linearly Separable!)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0" y="4754880"/>
            <a:ext cx="3474720" cy="1188720"/>
          </a:xfrm>
          <a:prstGeom prst="rect">
            <a:avLst/>
          </a:prstGeom>
          <a:solidFill>
            <a:srgbClr val="D5F5E3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class (lifted up)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2560320"/>
            <a:ext cx="3840480" cy="73152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Surface (hyperplane)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0" y="2834640"/>
            <a:ext cx="3474720" cy="1645920"/>
          </a:xfrm>
          <a:prstGeom prst="rect">
            <a:avLst/>
          </a:prstGeom>
          <a:solidFill>
            <a:srgbClr val="FDECEA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2104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class (stays below)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6446520"/>
            <a:ext cx="119786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6464808"/>
            <a:ext cx="1179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Kernel Trick maps non-linearly separable data into a higher dimension where a linear hyperplane CAN separate classes — without computing the transformation explicitly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 (SVM) — 2 Kernels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Mahmoud Maher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1188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Kernels Trained as Required by Course Specification: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5760720" cy="2560320"/>
          </a:xfrm>
          <a:prstGeom prst="rect">
            <a:avLst/>
          </a:prstGeom>
          <a:solidFill>
            <a:srgbClr val="D6E4F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4447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Kernel 1: RBF (Radial Basis Function)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K(x, x') = exp(−γ||x−x'||²)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non-linear decision boundaries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complex, overlapping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C=10, γ='scale' (auto-adjusted)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SVC for classification, SVR for regression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943600" cy="2560320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4447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Kernel 2: Linear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755648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K(x, x') = x · x'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linear decision boundaries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training, more interpretable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linearly separable classes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C=1 standard regularization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SVC (Linear) + SVR (Linear) both trained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4114800"/>
            <a:ext cx="1188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Key Concepts: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" y="4526280"/>
            <a:ext cx="5852160" cy="9144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5537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8646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points closest to the decision boundary — define the margin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526280"/>
            <a:ext cx="5852160" cy="9144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5537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Margin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8646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maximizes the gap between classes — improves generalization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5532120"/>
            <a:ext cx="5852160" cy="9144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55595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Parameter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58704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trade-off: large C = hard margin (low bias, high variance)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5532120"/>
            <a:ext cx="5852160" cy="9144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5595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ε-SVR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58704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 predictions within ε of target incur zero penalty (ε-tube)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(DT) — Deep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Youssef El-Koumi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852160" cy="3200400"/>
          </a:xfrm>
          <a:prstGeom prst="rect">
            <a:avLst/>
          </a:prstGeom>
          <a:solidFill>
            <a:srgbClr val="D6E4F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789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Decision Trees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389888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Recursively partition feature space at each node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Split criterion: Gini Impurity (classification) / MSE (regression)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 tuned from 2→15; best depth balances accuracy vs overfitting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interpretable: entire decision path traceable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feature scaling needed (unlike KNN, SVM, NN)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feature importance ranking by information gain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5943600" cy="320040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051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by DT Importance: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situps_counts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1572768"/>
            <a:ext cx="2176272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1228832" y="1572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984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broad_jump_cm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2048256"/>
            <a:ext cx="1997050" cy="2743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610" y="2048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4597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body_fat_pct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2523744"/>
            <a:ext cx="1587398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10639958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9352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gripForce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2999232"/>
            <a:ext cx="1408176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10460736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410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3474720"/>
            <a:ext cx="107533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10127894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4297680"/>
            <a:ext cx="11978640" cy="210312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34340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Tuning Results: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143500"/>
            <a:ext cx="1188720" cy="891540"/>
          </a:xfrm>
          <a:prstGeom prst="rect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080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03120" y="5006340"/>
            <a:ext cx="1188720" cy="1028700"/>
          </a:xfrm>
          <a:prstGeom prst="rect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103120" y="6080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4896612"/>
            <a:ext cx="1188720" cy="1138428"/>
          </a:xfrm>
          <a:prstGeom prst="rect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6080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4960" y="4841748"/>
            <a:ext cx="1188720" cy="119329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6080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4855464"/>
            <a:ext cx="1188720" cy="1179576"/>
          </a:xfrm>
          <a:prstGeom prst="rect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6080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686800" y="4869180"/>
            <a:ext cx="1188720" cy="1165860"/>
          </a:xfrm>
          <a:prstGeom prst="rect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0" y="6080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32720" y="4882896"/>
            <a:ext cx="1188720" cy="1152144"/>
          </a:xfrm>
          <a:prstGeom prst="rect">
            <a:avLst/>
          </a:prstGeom>
          <a:solidFill>
            <a:srgbClr val="2980B9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332720" y="6080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7AE60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&amp; Results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Results — All Models Ranked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978640" cy="24841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Presenter / Member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🥇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~93–96%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~93–96%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Moamen Essmat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🥈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 (RBF)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~90–93%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~90–93%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Mahmoud Maher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🥉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~89–92%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~89–92%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Khaled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~85–89%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~85–89%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Eid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~88–92%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~88–92%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Moamen Essmat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~84–88%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~84–88%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Youssef El-Koumi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 (Linear)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~82–86%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~82–86%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Mahmoud Maher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Eid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82880" y="5715000"/>
            <a:ext cx="11978640" cy="68580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5760720"/>
            <a:ext cx="1161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Gradient Boosting achieves highest accuracy — sequential error-correction and ensemble nature make it the top performer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Results &amp; Cross-Validation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— Predicting broad_jump_cm: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71600"/>
          <a:ext cx="6766560" cy="30327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(cm)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 Reg.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~0.90–0.93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~11–13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Moamen Essmat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 Reg.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~0.88–0.91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~12–14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Khaled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 (RBF) Reg.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~0.86–0.90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~13–15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Mahmoud Maher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 Regressor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~0.83–0.87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~14–17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Eid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 Reg.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~0.82–0.86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~15–18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Youssef El-Koumi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~0.78–0.82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~17–20 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Mohamed Eid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132320" y="1005840"/>
            <a:ext cx="5029200" cy="502920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Stability:</a:t>
            </a:r>
            <a:endParaRPr lang="en-US" sz="14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463040"/>
          <a:ext cx="4846320" cy="1112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80/20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5-Fold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 (RBF)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315200" y="3017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Insights: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Adjacent classes (A↔B, B↔C) most confused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0" y="3886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 A (best) easiest to classify correctly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4389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Gradient Boosting: fewest off-diagonal errors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31520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variance across splits = no overfitting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82880" y="5715000"/>
            <a:ext cx="11978640" cy="68580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" y="5760720"/>
            <a:ext cx="1161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Small variance across 80/20 / 70/30 / 50/50 splits confirms models generalize well — not overfitting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ABC9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Recommendations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41280" y="137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" y="6583680"/>
            <a:ext cx="12106656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Findings: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1463040"/>
            <a:ext cx="320040" cy="32004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63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predictors: situps_counts, broad_jump_cm, body_fat_pct, gripForce, 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2286000"/>
            <a:ext cx="320040" cy="32004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860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outperforms all models in both tasks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" y="3108960"/>
            <a:ext cx="320040" cy="32004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08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Perfectly balanced classes — no resampling needed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" y="3931920"/>
            <a:ext cx="320040" cy="32004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319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improved model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4754880"/>
            <a:ext cx="320040" cy="32004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7548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RobustScaler effective for outlier-robust normalization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5943600" cy="539496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051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Model Recommendations: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1508760"/>
            <a:ext cx="5577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527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1801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— Highest accuracy, stable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441448"/>
            <a:ext cx="5577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459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734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— Full decision path visible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374136"/>
            <a:ext cx="5577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392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Baseline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6667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— No training, simple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306824"/>
            <a:ext cx="5577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325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Regression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4599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Reg. — Best R², lowest RMSE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5239512"/>
            <a:ext cx="55778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Baseline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— Fast, avoids overfitting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2880" y="5669280"/>
            <a:ext cx="11978640" cy="73152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571500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Project met ALL course requirements: 7+ models, 2 SVM kernels, 2-layer NN, multiple splits, K-Fold CV, feature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371600"/>
            <a:ext cx="1216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-242277" y="1758071"/>
            <a:ext cx="12161520" cy="2402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0" y="59436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Performance Analytics | Introduction to AI &amp; ML | Academic Year 2024–2025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2842</Words>
  <Application>Microsoft Office PowerPoint</Application>
  <PresentationFormat>Widescreen</PresentationFormat>
  <Paragraphs>652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Performance Analytics</dc:title>
  <dc:subject>PptxGenJS Presentation</dc:subject>
  <dc:creator>ML Team</dc:creator>
  <cp:lastModifiedBy>Admin</cp:lastModifiedBy>
  <cp:revision>2</cp:revision>
  <dcterms:created xsi:type="dcterms:W3CDTF">2026-03-29T17:40:58Z</dcterms:created>
  <dcterms:modified xsi:type="dcterms:W3CDTF">2026-05-03T14:53:29Z</dcterms:modified>
</cp:coreProperties>
</file>